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CCDD"/>
                </a:solidFill>
                <a:latin typeface="Calibri"/>
              </a:defRPr>
            </a:pPr>
            <a:r>
              <a:t>БЕЛОРУССКИЙ ГОСУДАРСТВЕННЫЙ УНИВЕРСИТЕТ ИНФОРМАТИКИ И РАДИОЭЛЕКТРОНИКИ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DD"/>
                </a:solidFill>
                <a:latin typeface="Calibri"/>
              </a:defRPr>
            </a:pPr>
            <a:r>
              <a:t>Кафедра телекоммуникаций и информационных технологий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Курсовая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478A"/>
                </a:solidFill>
                <a:latin typeface="Calibri"/>
              </a:defRPr>
            </a:pPr>
            <a:r>
              <a:t>Современные протоколы динамической маршрутизации</a:t>
            </a:r>
            <a:br/>
            <a:r>
              <a:t>для обеспечения киберустойчивости</a:t>
            </a:r>
            <a:br/>
            <a:r>
              <a:t>беспроводных сенсорных сетей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572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  <a:r>
              <a:t>Выполнил: студент группы ______</a:t>
            </a:r>
            <a:br/>
            <a:r>
              <a:t>Проверил: 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126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Минск,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  <a:latin typeface="Calibri"/>
              </a:defRPr>
            </a:pPr>
            <a:r>
              <a:t>Актуальность и цель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100" b="1">
                <a:solidFill>
                  <a:srgbClr val="1A478A"/>
                </a:solidFill>
                <a:latin typeface="Calibri"/>
              </a:defRPr>
            </a:pPr>
            <a:r>
              <a:t>Актуальность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2D2D2D"/>
                </a:solidFill>
                <a:latin typeface="Calibri"/>
              </a:defRPr>
            </a:pPr>
            <a:r>
              <a:t>- БСС (беспроводные сенсорные сети) — основа технологий IoT, более 29 млрд устройств к 2027 г.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2D2D2D"/>
                </a:solidFill>
                <a:latin typeface="Calibri"/>
              </a:defRPr>
            </a:pPr>
            <a:r>
              <a:t>- Ограниченные ресурсы узлов: энергия батареи, малая вычислительная мощность, небольшой объём памяти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2D2D2D"/>
                </a:solidFill>
                <a:latin typeface="Calibri"/>
              </a:defRPr>
            </a:pPr>
            <a:r>
              <a:t>- Новые применения (видеонаблюдение, промышленный мониторинг) требуют учёта качества обслуживания (QoS)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2D2D2D"/>
                </a:solidFill>
                <a:latin typeface="Calibri"/>
              </a:defRPr>
            </a:pPr>
            <a:r>
              <a:t>- Растущие киберугрозы, нацеленные именно на протоколы маршрутизации</a:t>
            </a:r>
          </a:p>
          <a:p>
            <a:pPr algn="l">
              <a:spcBef>
                <a:spcPts val="12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100" b="1">
                <a:solidFill>
                  <a:srgbClr val="1A478A"/>
                </a:solidFill>
                <a:latin typeface="Calibri"/>
              </a:defRPr>
            </a:pPr>
            <a:r>
              <a:t>Цель работы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2D2D2D"/>
                </a:solidFill>
                <a:latin typeface="Calibri"/>
              </a:defRPr>
            </a:pPr>
            <a:r>
              <a:t>Исследование современных протоколов динамической маршрутизации для БСС с точки зрения обеспечения киберустойчивости, анализ подходов к многокритериальной маршрутизации и обнаружению вторжений.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  <a:latin typeface="Calibri"/>
              </a:defRPr>
            </a:pPr>
            <a:r>
              <a:t>Задачи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984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Исследовать роль динамической маршрутизации в БСС и специфику реализации в условиях ресурсных ограничений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042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Проанализировать проблемы безопасности и киберустойчивости: энергодефицит, типы трафика, перегрузка узлов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101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Рассмотреть подходы к многокритериальной маршрутизации (свёртка критериев, эволюционные алгоритмы, машинное обучение)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297680"/>
            <a:ext cx="411480" cy="411480"/>
          </a:xfrm>
          <a:prstGeom prst="ellipse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159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Исследовать адаптацию систем обнаружения вторжений (IDS) для сенсорных сетей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303520"/>
            <a:ext cx="411480" cy="411480"/>
          </a:xfrm>
          <a:prstGeom prst="ellipse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Провести сравнительный анализ существующих протоколов маршрутизации БСС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  <a:latin typeface="Calibri"/>
              </a:defRPr>
            </a:pPr>
            <a:r>
              <a:t>Архитектура БСС и энергоограничения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800" b="1">
                <a:solidFill>
                  <a:srgbClr val="1A478A"/>
                </a:solidFill>
                <a:latin typeface="Calibri"/>
              </a:defRPr>
            </a:pPr>
            <a:r>
              <a:t>Сенсорный узел: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  Датчики + МК + радио + батарея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C0392B"/>
                </a:solidFill>
                <a:latin typeface="Calibri"/>
              </a:defRPr>
            </a:pPr>
            <a:r>
              <a:t>Передача 1 бита = 1000-3000x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энергии по сравнению с 1 операцией CPU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A478A"/>
                </a:solidFill>
                <a:latin typeface="Calibri"/>
              </a:defRPr>
            </a:pPr>
            <a:r>
              <a:t>Время жизни маршрута:</a:t>
            </a:r>
          </a:p>
          <a:p>
            <a:pPr algn="l">
              <a:spcBef>
                <a:spcPts val="600"/>
              </a:spcBef>
              <a:defRPr sz="1700" b="1">
                <a:solidFill>
                  <a:srgbClr val="167F72"/>
                </a:solidFill>
                <a:latin typeface="Calibri"/>
              </a:defRPr>
            </a:pPr>
            <a:r>
              <a:t>T = min(Ei / ri),  i = 1..k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666666"/>
                </a:solidFill>
                <a:latin typeface="Calibri"/>
              </a:defRPr>
            </a:pPr>
            <a:r>
              <a:t>Ei - остаточная энергия узла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666666"/>
                </a:solidFill>
                <a:latin typeface="Calibri"/>
              </a:defRPr>
            </a:pPr>
            <a:r>
              <a:t>ri - скорость расхода (зависит от трафика)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Видеопоток потребляет в 50-100 раз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больше энергии, чем телеметрия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EBF5F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478A"/>
                </a:solidFill>
                <a:latin typeface="Calibri"/>
              </a:defRPr>
            </a:pPr>
            <a:r>
              <a:t>Топология БСС (кластерная)</a:t>
            </a:r>
          </a:p>
        </p:txBody>
      </p:sp>
      <p:sp>
        <p:nvSpPr>
          <p:cNvPr id="9" name="Oval 8"/>
          <p:cNvSpPr/>
          <p:nvPr/>
        </p:nvSpPr>
        <p:spPr>
          <a:xfrm>
            <a:off x="8503920" y="18288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БС</a:t>
            </a:r>
          </a:p>
        </p:txBody>
      </p:sp>
      <p:sp>
        <p:nvSpPr>
          <p:cNvPr id="10" name="Oval 9"/>
          <p:cNvSpPr/>
          <p:nvPr/>
        </p:nvSpPr>
        <p:spPr>
          <a:xfrm>
            <a:off x="6949440" y="3108960"/>
            <a:ext cx="411480" cy="4114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КГ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150607" y="2331720"/>
            <a:ext cx="1627633" cy="777240"/>
          </a:xfrm>
          <a:prstGeom prst="line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503920" y="3657600"/>
            <a:ext cx="411480" cy="4114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КГ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705088" y="2331720"/>
            <a:ext cx="73152" cy="1325880"/>
          </a:xfrm>
          <a:prstGeom prst="line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058400" y="2926080"/>
            <a:ext cx="411480" cy="4114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КГ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8778240" y="2331720"/>
            <a:ext cx="1481328" cy="594360"/>
          </a:xfrm>
          <a:prstGeom prst="line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492240" y="393192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629400" y="3520440"/>
            <a:ext cx="521207" cy="41148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132320" y="420624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7150607" y="3520440"/>
            <a:ext cx="118873" cy="68580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00800" y="457200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537960" y="3520440"/>
            <a:ext cx="612647" cy="105156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498079" y="384048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7150607" y="3520440"/>
            <a:ext cx="484633" cy="32004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046720" y="457200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8183880" y="4069080"/>
            <a:ext cx="521208" cy="50292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686800" y="475488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8705088" y="4069080"/>
            <a:ext cx="118872" cy="68580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144000" y="438912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8705088" y="4069080"/>
            <a:ext cx="576072" cy="32004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29600" y="502920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366760" y="4069080"/>
            <a:ext cx="338328" cy="96012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424160" y="365760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10259568" y="3337560"/>
            <a:ext cx="301752" cy="32004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692640" y="402336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9829800" y="3337560"/>
            <a:ext cx="429768" cy="68580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607040" y="420624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10259568" y="3337560"/>
            <a:ext cx="484632" cy="86868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058400" y="448056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У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0195560" y="3337560"/>
            <a:ext cx="64008" cy="114300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583680" y="557784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5559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Базовая станция</a:t>
            </a:r>
          </a:p>
        </p:txBody>
      </p:sp>
      <p:sp>
        <p:nvSpPr>
          <p:cNvPr id="42" name="Oval 41"/>
          <p:cNvSpPr/>
          <p:nvPr/>
        </p:nvSpPr>
        <p:spPr>
          <a:xfrm>
            <a:off x="8229600" y="557784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5559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Кластерная голова</a:t>
            </a:r>
          </a:p>
        </p:txBody>
      </p:sp>
      <p:sp>
        <p:nvSpPr>
          <p:cNvPr id="44" name="Oval 43"/>
          <p:cNvSpPr/>
          <p:nvPr/>
        </p:nvSpPr>
        <p:spPr>
          <a:xfrm>
            <a:off x="9966960" y="557784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0" y="5559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Сенсорный узел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  <a:latin typeface="Calibri"/>
              </a:defRPr>
            </a:pPr>
            <a:r>
              <a:t>Угрозы безопасности маршрутизации в БСС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478A"/>
                </a:solidFill>
                <a:latin typeface="Calibri"/>
              </a:defRPr>
            </a:pPr>
            <a:r>
              <a:t>Атаки на маршрутизацию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Чёрная дыра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2D2D"/>
                </a:solidFill>
              </a:defRPr>
            </a:pPr>
            <a:r>
              <a:t>Привлечение и</a:t>
            </a:r>
            <a:br/>
            <a:r>
              <a:t>отбрасывание трафика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146304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Червоточина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2D2D"/>
                </a:solidFill>
              </a:defRPr>
            </a:pPr>
            <a:r>
              <a:t>Скрытый туннель между</a:t>
            </a:r>
            <a:br/>
            <a:r>
              <a:t>удалёнными узлами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560320" cy="146304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Sybil-атака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2D2D"/>
                </a:solidFill>
              </a:defRPr>
            </a:pPr>
            <a:r>
              <a:t>Один узел выдаёт</a:t>
            </a:r>
            <a:br/>
            <a:r>
              <a:t>себя за множество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645920"/>
            <a:ext cx="2560320" cy="146304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0392B"/>
                </a:solidFill>
              </a:defRPr>
            </a:pPr>
            <a:r>
              <a:t>Sinkhole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2D2D"/>
                </a:solidFill>
              </a:defRPr>
            </a:pPr>
            <a:r>
              <a:t>Создание «воронки»</a:t>
            </a:r>
            <a:br/>
            <a:r>
              <a:t>для перехвата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478A"/>
                </a:solidFill>
                <a:latin typeface="Calibri"/>
              </a:defRPr>
            </a:pPr>
            <a:r>
              <a:t>Энергетические атаки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2560320" cy="14630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Vampire attacks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2D2D"/>
                </a:solidFill>
              </a:defRPr>
            </a:pPr>
            <a:r>
              <a:t>Создание циклических</a:t>
            </a:r>
            <a:br/>
            <a:r>
              <a:t>маршрутов для истощения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931920"/>
            <a:ext cx="2560320" cy="14630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Denial-of-sleep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2D2D"/>
                </a:solidFill>
              </a:defRPr>
            </a:pPr>
            <a:r>
              <a:t>Не позволяют узлам</a:t>
            </a:r>
            <a:br/>
            <a:r>
              <a:t>войти в спящий режим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478A"/>
                </a:solidFill>
                <a:latin typeface="Calibri"/>
              </a:defRPr>
            </a:pPr>
            <a:r>
              <a:t>Эволюция угроз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319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Комбинированные атаки на несколько уровней стека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Атаки с использованием машинного обучения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FOTA-атаки через обновление прошивки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Атаки через IoT-инфраструктуру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  <a:latin typeface="Calibri"/>
              </a:defRPr>
            </a:pPr>
            <a:r>
              <a:t>QoS-маршрутизация и балансировка нагрузки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900" b="1">
                <a:solidFill>
                  <a:srgbClr val="1A478A"/>
                </a:solidFill>
                <a:latin typeface="Calibri"/>
              </a:defRPr>
            </a:pPr>
            <a:r>
              <a:t>Параметры QoS</a:t>
            </a:r>
          </a:p>
          <a:p>
            <a:pPr algn="l">
              <a:spcBef>
                <a:spcPts val="8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Сквозная задержка (end-to-end delay)</a:t>
            </a:r>
          </a:p>
          <a:p>
            <a:pPr algn="l">
              <a:spcBef>
                <a:spcPts val="5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Джиттер (вариация задержки)</a:t>
            </a:r>
          </a:p>
          <a:p>
            <a:pPr algn="l">
              <a:spcBef>
                <a:spcPts val="5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Коэффициент потерь пакетов</a:t>
            </a:r>
          </a:p>
          <a:p>
            <a:pPr algn="l">
              <a:spcBef>
                <a:spcPts val="5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Пропускная способность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900" b="1">
                <a:solidFill>
                  <a:srgbClr val="1A478A"/>
                </a:solidFill>
                <a:latin typeface="Calibri"/>
              </a:defRPr>
            </a:pPr>
            <a:r>
              <a:t>Балансировка нагрузки</a:t>
            </a:r>
          </a:p>
          <a:p>
            <a:pPr algn="l">
              <a:spcBef>
                <a:spcPts val="8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«Эффект воронки» — перегрузка узлов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   вблизи базовой станции</a:t>
            </a:r>
          </a:p>
          <a:p>
            <a:pPr algn="l">
              <a:spcBef>
                <a:spcPts val="5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Многопутевая маршрутизация</a:t>
            </a:r>
          </a:p>
          <a:p>
            <a:pPr algn="l">
              <a:spcBef>
                <a:spcPts val="5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Использование избыточных шлюзов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389120"/>
            <a:ext cx="9418320" cy="10972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1A478A"/>
                </a:solidFill>
              </a:defRPr>
            </a:pPr>
            <a:r>
              <a:t>Конфликт: обеспечение QoS требует лучших каналов, но их интенсивное использование ускоряет расход энергии.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167F72"/>
                </a:solidFill>
              </a:defRPr>
            </a:pPr>
            <a:r>
              <a:t>Протоколы: SPEED, MMSPEED, SAR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  <a:latin typeface="Calibri"/>
              </a:defRPr>
            </a:pPr>
            <a:r>
              <a:t>Подходы к многокритериальной маршрутизации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383280" cy="43891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478A"/>
                </a:solidFill>
                <a:latin typeface="Calibri"/>
              </a:defRPr>
            </a:pPr>
            <a:r>
              <a:t>Свёртка критериев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F(P) = sum(wk * fk(P))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Алгоритмы Дейкстры, Флойда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Метод анализа иерархий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188720"/>
            <a:ext cx="3383280" cy="43891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7F72"/>
                </a:solidFill>
                <a:latin typeface="Calibri"/>
              </a:defRPr>
            </a:pPr>
            <a:r>
              <a:t>Эволюционные методы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1031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NSGA-II (Парето-фронт)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ACO (муравьиная колония)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PSO (рой частиц)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383280" cy="438912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  <a:latin typeface="Calibri"/>
              </a:defRPr>
            </a:pPr>
            <a:r>
              <a:t>Машинное 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Q-обучение / DQN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Федеративное обучение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  <a:r>
              <a:t>- Адаптация в реальном времени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  <a:latin typeface="Calibri"/>
              </a:defRPr>
            </a:pPr>
            <a:r>
              <a:t>Системы обнаружения вторжений для БСС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900" b="1">
                <a:solidFill>
                  <a:srgbClr val="1A478A"/>
                </a:solidFill>
                <a:latin typeface="Calibri"/>
              </a:defRPr>
            </a:pPr>
            <a:r>
              <a:t>Архитектуры IDS</a:t>
            </a:r>
          </a:p>
          <a:p>
            <a:pPr algn="l">
              <a:spcBef>
                <a:spcPts val="8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Распределённая — лёгкие агенты на каждом узле</a:t>
            </a:r>
          </a:p>
          <a:p>
            <a:pPr algn="l">
              <a:spcBef>
                <a:spcPts val="5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Иерархическая — анализ на уровне кластерной головы</a:t>
            </a:r>
          </a:p>
          <a:p>
            <a:pPr algn="l">
              <a:spcBef>
                <a:spcPts val="5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Мобильная — перемещающиеся агенты-мониторы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900" b="1">
                <a:solidFill>
                  <a:srgbClr val="1A478A"/>
                </a:solidFill>
                <a:latin typeface="Calibri"/>
              </a:defRPr>
            </a:pPr>
            <a:r>
              <a:t>Почему обнаружение аномалий?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Не требует базы сигнатур (экономия памяти)</a:t>
            </a:r>
          </a:p>
          <a:p>
            <a:pPr algn="l">
              <a:spcBef>
                <a:spcPts val="5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Способно выявлять zero-day атаки</a:t>
            </a:r>
          </a:p>
          <a:p>
            <a:pPr algn="l">
              <a:spcBef>
                <a:spcPts val="5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- Использует предсказуемость поведения БСС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478A"/>
                </a:solidFill>
                <a:latin typeface="Calibri"/>
              </a:defRPr>
            </a:pPr>
            <a:r>
              <a:t>Метрики аномальности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4846320" cy="8686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478A"/>
                </a:solidFill>
              </a:defRPr>
            </a:pPr>
            <a:r>
              <a:t>Объём трафика</a:t>
            </a:r>
          </a:p>
          <a:p>
            <a:pPr algn="l">
              <a:spcBef>
                <a:spcPts val="200"/>
              </a:spcBef>
              <a:defRPr sz="1300">
                <a:solidFill>
                  <a:srgbClr val="666666"/>
                </a:solidFill>
              </a:defRPr>
            </a:pPr>
            <a:r>
              <a:t>Резкий рост — flooding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880360"/>
            <a:ext cx="4846320" cy="8686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478A"/>
                </a:solidFill>
              </a:defRPr>
            </a:pPr>
            <a:r>
              <a:t>Паттерн передачи</a:t>
            </a:r>
          </a:p>
          <a:p>
            <a:pPr algn="l">
              <a:spcBef>
                <a:spcPts val="200"/>
              </a:spcBef>
              <a:defRPr sz="1300">
                <a:solidFill>
                  <a:srgbClr val="666666"/>
                </a:solidFill>
              </a:defRPr>
            </a:pPr>
            <a:r>
              <a:t>Нетипичная активность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931920"/>
            <a:ext cx="4846320" cy="8686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478A"/>
                </a:solidFill>
              </a:defRPr>
            </a:pPr>
            <a:r>
              <a:t>Расход энергии</a:t>
            </a:r>
          </a:p>
          <a:p>
            <a:pPr algn="l">
              <a:spcBef>
                <a:spcPts val="200"/>
              </a:spcBef>
              <a:defRPr sz="1300">
                <a:solidFill>
                  <a:srgbClr val="666666"/>
                </a:solidFill>
              </a:defRPr>
            </a:pPr>
            <a:r>
              <a:t>Ускоренный — denial-of-sleep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983479"/>
            <a:ext cx="4846320" cy="8686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478A"/>
                </a:solidFill>
              </a:defRPr>
            </a:pPr>
            <a:r>
              <a:t>Стабильность маршрутов</a:t>
            </a:r>
          </a:p>
          <a:p>
            <a:pPr algn="l">
              <a:spcBef>
                <a:spcPts val="200"/>
              </a:spcBef>
              <a:defRPr sz="1300">
                <a:solidFill>
                  <a:srgbClr val="666666"/>
                </a:solidFill>
              </a:defRPr>
            </a:pPr>
            <a:r>
              <a:t>Частые изменения — sinkhole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760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F72"/>
                </a:solidFill>
                <a:latin typeface="Calibri"/>
              </a:defRPr>
            </a:pPr>
            <a:r>
              <a:t>Лёгкие алгоритмы: CUSUM, EWMA, TinyML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  <a:latin typeface="Calibri"/>
              </a:defRPr>
            </a:pPr>
            <a:r>
              <a:t>Сравнительный анализ протоколов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Протокол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Тип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Энерго-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эффект.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Масшт.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QoS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Устойч.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 атакам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Адаптивн.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Плоский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Иерарх.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PEGASIS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Иерарх.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Геогр.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QoS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INSENS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Безоп.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SecRoute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Безоп.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Н — низкая    С — средняя    В — высокая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  <a:latin typeface="Calibri"/>
              </a:defRPr>
            </a:pPr>
            <a: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16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Время жизни маршрута — критический параметр, определяемый остаточной энергией узлов и типом передаваемого трафика.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65760" cy="365760"/>
          </a:xfrm>
          <a:prstGeom prst="ellipse">
            <a:avLst/>
          </a:prstGeom>
          <a:solidFill>
            <a:srgbClr val="16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Для мультимедийных приложений необходим одновременный учёт QoS и времени жизни сети, что формирует задачу многокритериальной оптимизации.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16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Обнаружение аномалий на основе анализа поведения — наиболее перспективный подход к обеспечению безопасности БСС.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16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Ни один из существующих протоколов не обеспечивает высокие показатели по всем критериям одновременно.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212080"/>
            <a:ext cx="365760" cy="365760"/>
          </a:xfrm>
          <a:prstGeom prst="ellipse">
            <a:avLst/>
          </a:prstGeom>
          <a:solidFill>
            <a:srgbClr val="16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Перспективное направление — гибридные протоколы, интегрирующие иерархическую организацию, многокритериальную оптимизацию, механизмы доверия и облегчённые IDS.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