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AACC"/>
                </a:solidFill>
                <a:latin typeface="Calibri"/>
              </a:defRPr>
            </a:pPr>
            <a:r>
              <a:t>БЕЛОРУССКИЙ ГОСУДАРСТВЕННЫЙ УНИВЕРСИТЕТ ИНФОРМАТИКИ И РАДИОЭЛЕКТРОНИКИ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9AACC"/>
                </a:solidFill>
                <a:latin typeface="Calibri"/>
              </a:defRPr>
            </a:pPr>
            <a:r>
              <a:t>Кафедра телекоммуникаций и информационных технологий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EC9B0"/>
                </a:solidFill>
                <a:latin typeface="Calibri"/>
              </a:defRPr>
            </a:pPr>
            <a:r>
              <a:t>КУРСОВАЯ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Современные протоколы динамической</a:t>
            </a:r>
            <a:br/>
            <a:r>
              <a:t>маршрутизации для обеспечения</a:t>
            </a:r>
            <a:br/>
            <a:r>
              <a:t>киберустойчивости беспроводных</a:t>
            </a:r>
            <a:br/>
            <a:r>
              <a:t>сенсорных сетей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502920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Выполнил: студент группы ______</a:t>
            </a:r>
            <a:br/>
            <a:r>
              <a:t>Проверил: ________________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6217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AACC"/>
                </a:solidFill>
                <a:latin typeface="Calibri"/>
              </a:defRPr>
            </a:pPr>
            <a:r>
              <a:t>Минск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Актуальность и цель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4EC9B0"/>
                </a:solidFill>
                <a:latin typeface="Calibri"/>
              </a:defRPr>
            </a:pPr>
            <a:r>
              <a:t>Актуальность: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  <a:r>
              <a:t>• БСС — одна из ключевых технологий IoT (&gt;29 млрд устройств к 2027 г.)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  <a:r>
              <a:t>• Ресурсные ограничения узлов: энергия, память, вычислительная мощность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  <a:r>
              <a:t>• Новые требования: мультимедийный трафик (видеонаблюдение) → QoS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  <a:r>
              <a:t>• Рост киберугроз, нацеленных на протоколы маршрутизации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2000" b="1">
                <a:solidFill>
                  <a:srgbClr val="4EC9B0"/>
                </a:solidFill>
                <a:latin typeface="Calibri"/>
              </a:defRPr>
            </a:pPr>
            <a:r>
              <a:t>Цель: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  <a:r>
              <a:t>Исследование современных протоколов динамической маршрутизации для БСС</a:t>
            </a:r>
          </a:p>
          <a:p>
            <a:pPr algn="l">
              <a:spcBef>
                <a:spcPts val="600"/>
              </a:spcBef>
              <a:defRPr sz="2000" b="0">
                <a:solidFill>
                  <a:srgbClr val="E8E8E8"/>
                </a:solidFill>
                <a:latin typeface="Calibri"/>
              </a:defRPr>
            </a:pPr>
            <a:r>
              <a:t>с точки зрения обеспечения киберустойчивости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Задачи исследования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12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1. Исследовать роль динамической маршрутизации в БСС</a:t>
            </a:r>
            <a:br/>
            <a:r>
              <a:t>   и специфику реализации в условиях ресурсных ограничений</a:t>
            </a:r>
          </a:p>
          <a:p>
            <a:pPr algn="l">
              <a:spcBef>
                <a:spcPts val="12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2. Проанализировать проблемы безопасности и киберустойчивости:</a:t>
            </a:r>
            <a:br/>
            <a:r>
              <a:t>   энергетический дефицит, типы трафика, перегрузка узлов</a:t>
            </a:r>
          </a:p>
          <a:p>
            <a:pPr algn="l">
              <a:spcBef>
                <a:spcPts val="12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3. Рассмотреть подходы к многокритериальной маршрутизации</a:t>
            </a:r>
            <a:br/>
            <a:r>
              <a:t>   (свёртка критериев, эволюционные алгоритмы, машинное обучение)</a:t>
            </a:r>
          </a:p>
          <a:p>
            <a:pPr algn="l">
              <a:spcBef>
                <a:spcPts val="12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4. Исследовать адаптацию IDS/IPS для сенсорных сетей</a:t>
            </a:r>
          </a:p>
          <a:p>
            <a:pPr algn="l">
              <a:spcBef>
                <a:spcPts val="12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5. Провести сравнительный анализ существующих протоколов</a:t>
            </a:r>
            <a:br/>
            <a:r>
              <a:t>   маршрутизации с точки зрения киберустойчивости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Архитектура БСС и энергетические ограничения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Компоненты сенсорного узла: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Датчики (температура, влажность, видео)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Микроконтроллер (4–100 МГц)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Приёмопередатчик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Батарея (1000–3000 мА·ч)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Ключевой факт: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Передача 1 бита ≈ 1000–3000×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энергии по сравнению с 1 операцией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Время жизни маршрута: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D700"/>
                </a:solidFill>
                <a:latin typeface="Calibri"/>
              </a:defRPr>
            </a:pPr>
            <a:r>
              <a:t>T = min(Eᵢ / rᵢ), i = 1..k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где Eᵢ — остаточная энергия узла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    rᵢ — скорость расхода (зависит от трафика)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Типы трафика: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Телеметрия → низкая нагрузка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Видеопоток → в 50–100× больше энергии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Угрозы безопасности БСС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Атаки на маршрутизацию: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Чёрная дыра — привлечение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и отбрасывание трафика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Червоточина — скрытый канал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между удалёнными узлами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Sybil — узел выдаёт себя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за множество узлов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Sinkhole — создание «воронки»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для перехвата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Энергетические атаки: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Vampire attacks — создание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циклических маршрутов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Denial-of-sleep — не дают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узлам войти в спящий режим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Эволюция угроз: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Комбинированные атаки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Атаки с использованием ML</a:t>
            </a:r>
          </a:p>
          <a:p>
            <a:pPr algn="l">
              <a:spcBef>
                <a:spcPts val="3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⬥ Атаки на цепочку поставок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QoS-маршрутизация и балансировка нагрузки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Параметры QoS: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Сквозная задержка (delay)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Джиттер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Потери пакетов (loss ratio)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Пропускная способность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Конфликт критериев: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D700"/>
                </a:solidFill>
                <a:latin typeface="Calibri"/>
              </a:defRPr>
            </a:pPr>
            <a:r>
              <a:t>QoS ↔ Время жизни сети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→ Многокритериальная оптимизация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Балансировка нагрузки: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«Эффект воронки» — перегрузка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  узлов вблизи базовой станции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Многопутевая маршрутизация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Избыточные шлюзы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Адаптивное перераспределение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Протоколы QoS: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D700"/>
                </a:solidFill>
                <a:latin typeface="Calibri"/>
              </a:defRPr>
            </a:pPr>
            <a:r>
              <a:t>SPEED, MMSPEED, 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Подходы к многокритериальной маршрутизации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EC9B0"/>
                </a:solidFill>
                <a:latin typeface="Calibri"/>
              </a:defRPr>
            </a:pPr>
            <a:r>
              <a:t>Свёртка критериев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F(P) = Σ wₖ·fₖ(P)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Алгоритмы Дейкстры, Флойда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Метод ε-ограничений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Анализ иерархий (AHP)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EC9B0"/>
                </a:solidFill>
                <a:latin typeface="Calibri"/>
              </a:defRPr>
            </a:pPr>
            <a:r>
              <a:t>Эволюционные 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NSGA-II (Парето-фронт)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ACO (муравьиная колония)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PSO (рой частиц)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Распределённое выполнение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EC9B0"/>
                </a:solidFill>
                <a:latin typeface="Calibri"/>
              </a:defRPr>
            </a:pPr>
            <a:r>
              <a:t>Машинное обучение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0116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Q-обучение / DQN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Адаптация к динамике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Федеративное обучение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E8E8E8"/>
                </a:solidFill>
                <a:latin typeface="Calibri"/>
              </a:defRPr>
            </a:pPr>
            <a:r>
              <a:t>• Обнаружение аномалий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Системы обнаружения вторжений для БСС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Архитектуры IDS для БСС: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Распределённая — агенты на узлах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Иерархическая — анализ на кластере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Мобильная — перемещающиеся агенты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Обнаружение аномалий: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Модель нормального поведения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Не требует базы сигнатур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Выявляет zero-day атаки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Метрики аномальности: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Объём трафика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Паттерн передачи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Скорость расхода энергии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  <a:r>
              <a:t>• Стабильность маршрутов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4EC9B0"/>
                </a:solidFill>
                <a:latin typeface="Calibri"/>
              </a:defRPr>
            </a:pPr>
            <a:r>
              <a:t>Лёгкие алгоритмы: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D700"/>
                </a:solidFill>
                <a:latin typeface="Calibri"/>
              </a:defRPr>
            </a:pPr>
            <a:r>
              <a:t>CUSUM, EWMA, TinyML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Сравнительный анализ протоколов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/>
                <a:gridCol w="1528354"/>
                <a:gridCol w="1528354"/>
                <a:gridCol w="1528354"/>
                <a:gridCol w="1528354"/>
                <a:gridCol w="1528354"/>
                <a:gridCol w="1528356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Протокол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Тип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Энерго-</a:t>
                      </a:r>
                    </a:p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эффект.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Масшт.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QoS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Устойч.</a:t>
                      </a:r>
                    </a:p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к атакам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B2A4A"/>
                          </a:solidFill>
                          <a:latin typeface="Calibri"/>
                        </a:defRPr>
                      </a:pPr>
                      <a:r>
                        <a:t>Адаптивн.</a:t>
                      </a:r>
                    </a:p>
                  </a:txBody>
                  <a:tcPr>
                    <a:solidFill>
                      <a:srgbClr val="4EC9B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SPIN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Плоский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LEACH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Иерарх.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PEGASIS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Иерарх.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GPSR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Геогр.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QoS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INSENS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Безоп.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Н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223A5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SecRoute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Безоп.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С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8E8E8"/>
                          </a:solidFill>
                          <a:latin typeface="Calibri"/>
                        </a:defRPr>
                      </a:pPr>
                      <a:r>
                        <a:t>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AA"/>
                </a:solidFill>
                <a:latin typeface="Calibri"/>
              </a:defRPr>
            </a:pPr>
            <a:r>
              <a:t>Н — низкая    С — средняя    В — высокая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E8E8E8"/>
                </a:solidFill>
                <a:latin typeface="Calibri"/>
              </a:defRPr>
            </a:pPr>
          </a:p>
          <a:p>
            <a:pPr algn="l">
              <a:spcBef>
                <a:spcPts val="14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1. Время жизни маршрута — критический параметр, определяемый</a:t>
            </a:r>
            <a:br/>
            <a:r>
              <a:t>   остаточной энергией узлов и типом трафика</a:t>
            </a:r>
          </a:p>
          <a:p>
            <a:pPr algn="l">
              <a:spcBef>
                <a:spcPts val="14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2. Для мультимедийных приложений необходим одновременный учёт</a:t>
            </a:r>
            <a:br/>
            <a:r>
              <a:t>   QoS и времени жизни → многокритериальная оптимизация</a:t>
            </a:r>
          </a:p>
          <a:p>
            <a:pPr algn="l">
              <a:spcBef>
                <a:spcPts val="14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3. Обнаружение аномалий на основе анализа поведения — наиболее</a:t>
            </a:r>
            <a:br/>
            <a:r>
              <a:t>   перспективный подход к безопасности БСС</a:t>
            </a:r>
          </a:p>
          <a:p>
            <a:pPr algn="l">
              <a:spcBef>
                <a:spcPts val="14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4. Ни один протокол не обеспечивает высокие показатели по всем</a:t>
            </a:r>
            <a:br/>
            <a:r>
              <a:t>   критериям одновременно</a:t>
            </a:r>
          </a:p>
          <a:p>
            <a:pPr algn="l">
              <a:spcBef>
                <a:spcPts val="1400"/>
              </a:spcBef>
              <a:defRPr sz="1900" b="0">
                <a:solidFill>
                  <a:srgbClr val="E8E8E8"/>
                </a:solidFill>
                <a:latin typeface="Calibri"/>
              </a:defRPr>
            </a:pPr>
            <a:r>
              <a:t>5. Перспективное направление — гибридные протоколы,</a:t>
            </a:r>
            <a:br/>
            <a:r>
              <a:t>   интегрирующие иерархическую организацию, многокритериальную</a:t>
            </a:r>
            <a:br/>
            <a:r>
              <a:t>   оптимизацию, механизмы доверия и облегчённые 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Спасибо за внимание!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657600"/>
            <a:ext cx="3017520" cy="508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8E8E8"/>
                </a:solidFill>
                <a:latin typeface="Calibri"/>
              </a:defRPr>
            </a:pPr>
            <a:r>
              <a:t>Готов ответить на ваши вопросы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8888AA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